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ar_Poster_Title_Author"/>
          <p:cNvSpPr txBox="1"/>
          <p:nvPr/>
        </p:nvSpPr>
        <p:spPr>
          <a:xfrm>
            <a:off x="0" y="0"/>
            <a:ext cx="43891200" cy="3291840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" name="var_Abstract"/>
          <p:cNvSpPr txBox="1"/>
          <p:nvPr/>
        </p:nvSpPr>
        <p:spPr>
          <a:xfrm>
            <a:off x="0" y="3291840"/>
            <a:ext cx="16221062" cy="8092315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4" name="var_Introduction"/>
          <p:cNvSpPr txBox="1"/>
          <p:nvPr/>
        </p:nvSpPr>
        <p:spPr>
          <a:xfrm>
            <a:off x="0" y="11384155"/>
            <a:ext cx="16221062" cy="7304061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5" name="var_Stochastic_Scene_Grammar"/>
          <p:cNvSpPr txBox="1"/>
          <p:nvPr/>
        </p:nvSpPr>
        <p:spPr>
          <a:xfrm>
            <a:off x="16221062" y="3291840"/>
            <a:ext cx="21255746" cy="15396376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6" name="var_Bayesian_Formulation"/>
          <p:cNvSpPr txBox="1"/>
          <p:nvPr/>
        </p:nvSpPr>
        <p:spPr>
          <a:xfrm>
            <a:off x="37476808" y="3291840"/>
            <a:ext cx="6414391" cy="15396376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7" name="var_Inference_Algorithm"/>
          <p:cNvSpPr txBox="1"/>
          <p:nvPr/>
        </p:nvSpPr>
        <p:spPr>
          <a:xfrm>
            <a:off x="0" y="18688216"/>
            <a:ext cx="24421523" cy="14230183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8" name="var_Experiments"/>
          <p:cNvSpPr txBox="1"/>
          <p:nvPr/>
        </p:nvSpPr>
        <p:spPr>
          <a:xfrm>
            <a:off x="24421523" y="18688216"/>
            <a:ext cx="19469676" cy="8890618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9" name="var_Conclusion"/>
          <p:cNvSpPr txBox="1"/>
          <p:nvPr/>
        </p:nvSpPr>
        <p:spPr>
          <a:xfrm>
            <a:off x="24421523" y="27578835"/>
            <a:ext cx="19469676" cy="533956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0" name="p_Poster_Title_Author__t0"/>
          <p:cNvSpPr txBox="1"/>
          <p:nvPr/>
        </p:nvSpPr>
        <p:spPr>
          <a:xfrm>
            <a:off x="109728" y="109728"/>
            <a:ext cx="43671744" cy="1365504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ctr">
              <a:defRPr sz="8500"/>
            </a:pPr>
            <a:r>
              <a:rPr b="1" i="0">
                <a:solidFill>
                  <a:srgbClr val="000000"/>
                </a:solidFill>
              </a:rPr>
              <a:t>Image Parsing via Stochastic Scene Grammar</a:t>
            </a:r>
          </a:p>
        </p:txBody>
      </p:sp>
      <p:sp>
        <p:nvSpPr>
          <p:cNvPr id="11" name="p_Poster_Title_Author__t1"/>
          <p:cNvSpPr txBox="1"/>
          <p:nvPr/>
        </p:nvSpPr>
        <p:spPr>
          <a:xfrm>
            <a:off x="109728" y="1475232"/>
            <a:ext cx="43671744" cy="170687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ctr">
              <a:defRPr sz="4800"/>
            </a:pPr>
            <a:r>
              <a:rPr b="0" i="0">
                <a:solidFill>
                  <a:srgbClr val="000000"/>
                </a:solidFill>
              </a:rPr>
              <a:t>Yibiao Zhao¹, Song-Chun Zhu¹</a:t>
            </a:r>
          </a:p>
          <a:p>
            <a:pPr algn="ctr">
              <a:defRPr sz="4800"/>
            </a:pPr>
            <a:r>
              <a:rPr b="0" i="0">
                <a:solidFill>
                  <a:srgbClr val="000000"/>
                </a:solidFill>
              </a:rPr>
              <a:t>¹Department of Statistics, University of California, Los Angeles</a:t>
            </a:r>
          </a:p>
        </p:txBody>
      </p:sp>
      <p:sp>
        <p:nvSpPr>
          <p:cNvPr id="12" name="p_Abstract__t0"/>
          <p:cNvSpPr txBox="1"/>
          <p:nvPr/>
        </p:nvSpPr>
        <p:spPr>
          <a:xfrm>
            <a:off x="109728" y="3401568"/>
            <a:ext cx="16001606" cy="1170432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l">
              <a:defRPr sz="8000"/>
            </a:pPr>
            <a:r>
              <a:rPr b="1" i="0">
                <a:solidFill>
                  <a:srgbClr val="000000"/>
                </a:solidFill>
              </a:rPr>
              <a:t>▶ Abstract</a:t>
            </a:r>
          </a:p>
        </p:txBody>
      </p:sp>
      <p:sp>
        <p:nvSpPr>
          <p:cNvPr id="13" name="p_Abstract__t1"/>
          <p:cNvSpPr txBox="1"/>
          <p:nvPr/>
        </p:nvSpPr>
        <p:spPr>
          <a:xfrm>
            <a:off x="109728" y="4572000"/>
            <a:ext cx="16001606" cy="670242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•Proposes a parsing algorithm for scene understanding.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•Utilizes a generative Stochastic Scene Grammar (SSG).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•Computes 3D scene layout and detects objects.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•Features an efficient MCMC inference algorithm.</a:t>
            </a:r>
          </a:p>
        </p:txBody>
      </p:sp>
      <p:sp>
        <p:nvSpPr>
          <p:cNvPr id="14" name="p_Introduction__t0"/>
          <p:cNvSpPr txBox="1"/>
          <p:nvPr/>
        </p:nvSpPr>
        <p:spPr>
          <a:xfrm>
            <a:off x="109728" y="11493883"/>
            <a:ext cx="16001606" cy="1170432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l">
              <a:defRPr sz="8000"/>
            </a:pPr>
            <a:r>
              <a:rPr b="1" i="0">
                <a:solidFill>
                  <a:srgbClr val="000000"/>
                </a:solidFill>
              </a:rPr>
              <a:t>▶ Introduction</a:t>
            </a:r>
          </a:p>
        </p:txBody>
      </p:sp>
      <p:sp>
        <p:nvSpPr>
          <p:cNvPr id="15" name="p_Introduction__t1"/>
          <p:cNvSpPr txBox="1"/>
          <p:nvPr/>
        </p:nvSpPr>
        <p:spPr>
          <a:xfrm>
            <a:off x="109728" y="12664315"/>
            <a:ext cx="16001606" cy="591417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•Scene understanding uses hierarchical structures.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•Discriminative methods classify pixels.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•Generative methods use graph structures.</a:t>
            </a:r>
          </a:p>
        </p:txBody>
      </p:sp>
      <p:sp>
        <p:nvSpPr>
          <p:cNvPr id="16" name="p_Stochastic_Scene_Grammar__t0"/>
          <p:cNvSpPr txBox="1"/>
          <p:nvPr/>
        </p:nvSpPr>
        <p:spPr>
          <a:xfrm>
            <a:off x="16330790" y="3401568"/>
            <a:ext cx="21036290" cy="1170432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l">
              <a:defRPr sz="8000"/>
            </a:pPr>
            <a:r>
              <a:rPr b="1" i="0">
                <a:solidFill>
                  <a:srgbClr val="000000"/>
                </a:solidFill>
              </a:rPr>
              <a:t>▶ Stochastic Scene Grammar</a:t>
            </a:r>
          </a:p>
        </p:txBody>
      </p:sp>
      <p:sp>
        <p:nvSpPr>
          <p:cNvPr id="17" name="p_Stochastic_Scene_Grammar__t1"/>
          <p:cNvSpPr txBox="1"/>
          <p:nvPr/>
        </p:nvSpPr>
        <p:spPr>
          <a:xfrm>
            <a:off x="16330790" y="4572000"/>
            <a:ext cx="21036290" cy="381917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•SSG is defined as a four-tuple with production rules.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•AND rules decompose entities into components.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•OR rules allow switching between sub-types.</a:t>
            </a:r>
          </a:p>
        </p:txBody>
      </p:sp>
      <p:sp>
        <p:nvSpPr>
          <p:cNvPr id="18" name="p_Stochastic_Scene_Grammar__t2"/>
          <p:cNvSpPr txBox="1"/>
          <p:nvPr/>
        </p:nvSpPr>
        <p:spPr>
          <a:xfrm>
            <a:off x="16330790" y="13588877"/>
            <a:ext cx="21036290" cy="498961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•SET rules are used to form ensembles.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•Cooperative '+' relations bind entities together.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•Competitive '-' relations specify exclusivity.</a:t>
            </a:r>
          </a:p>
        </p:txBody>
      </p:sp>
      <p:sp>
        <p:nvSpPr>
          <p:cNvPr id="19" name="p_Bayesian_Formulation__t0"/>
          <p:cNvSpPr txBox="1"/>
          <p:nvPr/>
        </p:nvSpPr>
        <p:spPr>
          <a:xfrm>
            <a:off x="37586536" y="3401568"/>
            <a:ext cx="6194935" cy="1170432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l">
              <a:defRPr sz="8000"/>
            </a:pPr>
            <a:r>
              <a:rPr b="1" i="0">
                <a:solidFill>
                  <a:srgbClr val="000000"/>
                </a:solidFill>
              </a:rPr>
              <a:t>▶ Bayesian Formulation</a:t>
            </a:r>
          </a:p>
        </p:txBody>
      </p:sp>
      <p:sp>
        <p:nvSpPr>
          <p:cNvPr id="20" name="p_Bayesian_Formulation__t1"/>
          <p:cNvSpPr txBox="1"/>
          <p:nvPr/>
        </p:nvSpPr>
        <p:spPr>
          <a:xfrm>
            <a:off x="37586536" y="4572000"/>
            <a:ext cx="6194935" cy="1400648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•Probabilistic model.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•AND/OR graph structure.</a:t>
            </a:r>
          </a:p>
        </p:txBody>
      </p:sp>
      <p:sp>
        <p:nvSpPr>
          <p:cNvPr id="21" name="p_Inference_Algorithm__t0"/>
          <p:cNvSpPr txBox="1"/>
          <p:nvPr/>
        </p:nvSpPr>
        <p:spPr>
          <a:xfrm>
            <a:off x="109728" y="18797944"/>
            <a:ext cx="24202067" cy="1170432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l">
              <a:defRPr sz="8000"/>
            </a:pPr>
            <a:r>
              <a:rPr b="1" i="0">
                <a:solidFill>
                  <a:srgbClr val="000000"/>
                </a:solidFill>
              </a:rPr>
              <a:t>▶ Inference Algorithm</a:t>
            </a:r>
          </a:p>
        </p:txBody>
      </p:sp>
      <p:sp>
        <p:nvSpPr>
          <p:cNvPr id="22" name="p_Inference_Algorithm__t1"/>
          <p:cNvSpPr txBox="1"/>
          <p:nvPr/>
        </p:nvSpPr>
        <p:spPr>
          <a:xfrm>
            <a:off x="109728" y="19968376"/>
            <a:ext cx="24202067" cy="252845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•Infers optimal parse trees using hierarchical sampling.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•Combines bottom-up clustering and top-down sampling.</a:t>
            </a:r>
          </a:p>
        </p:txBody>
      </p:sp>
      <p:sp>
        <p:nvSpPr>
          <p:cNvPr id="23" name="p_Inference_Algorithm__t2"/>
          <p:cNvSpPr txBox="1"/>
          <p:nvPr/>
        </p:nvSpPr>
        <p:spPr>
          <a:xfrm>
            <a:off x="109728" y="29109787"/>
            <a:ext cx="24202067" cy="369888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•Proposes new parse trees with strong support.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•Refines cluster selection through sampling.</a:t>
            </a:r>
          </a:p>
        </p:txBody>
      </p:sp>
      <p:sp>
        <p:nvSpPr>
          <p:cNvPr id="24" name="p_Experiments__t0"/>
          <p:cNvSpPr txBox="1"/>
          <p:nvPr/>
        </p:nvSpPr>
        <p:spPr>
          <a:xfrm>
            <a:off x="24531251" y="18797944"/>
            <a:ext cx="19250220" cy="1170432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l">
              <a:defRPr sz="8000"/>
            </a:pPr>
            <a:r>
              <a:rPr b="1" i="0">
                <a:solidFill>
                  <a:srgbClr val="000000"/>
                </a:solidFill>
              </a:rPr>
              <a:t>▶ Experiments</a:t>
            </a:r>
          </a:p>
        </p:txBody>
      </p:sp>
      <p:sp>
        <p:nvSpPr>
          <p:cNvPr id="25" name="p_Experiments__t1"/>
          <p:cNvSpPr txBox="1"/>
          <p:nvPr/>
        </p:nvSpPr>
        <p:spPr>
          <a:xfrm>
            <a:off x="24531251" y="19968376"/>
            <a:ext cx="19250220" cy="563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•Tested on datasets.</a:t>
            </a:r>
          </a:p>
        </p:txBody>
      </p:sp>
      <p:sp>
        <p:nvSpPr>
          <p:cNvPr id="26" name="p_Experiments__t2"/>
          <p:cNvSpPr txBox="1"/>
          <p:nvPr/>
        </p:nvSpPr>
        <p:spPr>
          <a:xfrm>
            <a:off x="24531251" y="25734874"/>
            <a:ext cx="19250220" cy="17342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•Qualitative evaluations highlight effectiveness.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•Outperforms state-of-the-art methods.</a:t>
            </a:r>
          </a:p>
        </p:txBody>
      </p:sp>
      <p:sp>
        <p:nvSpPr>
          <p:cNvPr id="27" name="p_Conclusion__t0"/>
          <p:cNvSpPr txBox="1"/>
          <p:nvPr/>
        </p:nvSpPr>
        <p:spPr>
          <a:xfrm>
            <a:off x="24531251" y="27688563"/>
            <a:ext cx="19250220" cy="1170432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noAutofit/>
          </a:bodyPr>
          <a:lstStyle/>
          <a:p/>
          <a:p>
            <a:pPr algn="l">
              <a:defRPr sz="8000"/>
            </a:pPr>
            <a:r>
              <a:rPr b="1" i="0">
                <a:solidFill>
                  <a:srgbClr val="000000"/>
                </a:solidFill>
              </a:rPr>
              <a:t>▶ Conclusion</a:t>
            </a:r>
          </a:p>
        </p:txBody>
      </p:sp>
      <p:sp>
        <p:nvSpPr>
          <p:cNvPr id="28" name="p_Conclusion__t1"/>
          <p:cNvSpPr txBox="1"/>
          <p:nvPr/>
        </p:nvSpPr>
        <p:spPr>
          <a:xfrm>
            <a:off x="24531251" y="28858995"/>
            <a:ext cx="19250220" cy="394967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•Framework for geometric image parsing using SSG.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•Grammar model extends traditional grammars.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•Cluster sampling accelerates inference.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•Future work: add semantic labels to 3D objects.</a:t>
            </a:r>
          </a:p>
        </p:txBody>
      </p:sp>
      <p:pic>
        <p:nvPicPr>
          <p:cNvPr id="29" name="p_Stochastic_Scene_Grammar__f0" descr="nips-2011-001-pictur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4419" y="8391178"/>
            <a:ext cx="16829032" cy="5197699"/>
          </a:xfrm>
          <a:prstGeom prst="rect">
            <a:avLst/>
          </a:prstGeom>
        </p:spPr>
      </p:pic>
      <p:pic>
        <p:nvPicPr>
          <p:cNvPr id="30" name="p_Inference_Algorithm__f0" descr="nips-2011-001-pictur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934" y="22496828"/>
            <a:ext cx="19361653" cy="6612959"/>
          </a:xfrm>
          <a:prstGeom prst="rect">
            <a:avLst/>
          </a:prstGeom>
        </p:spPr>
      </p:pic>
      <p:pic>
        <p:nvPicPr>
          <p:cNvPr id="31" name="p_Experiments__f0" descr="nips-2011-001-picture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4075" y="20532177"/>
            <a:ext cx="6744571" cy="5202697"/>
          </a:xfrm>
          <a:prstGeom prst="rect">
            <a:avLst/>
          </a:prstGeom>
        </p:spPr>
      </p:pic>
      <p:pic>
        <p:nvPicPr>
          <p:cNvPr id="32" name="institution_logo" descr="university_of_alber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7200"/>
            <a:ext cx="779595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